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Bold" charset="1" panose="00000000000000000000"/>
      <p:regular r:id="rId17"/>
    </p:embeddedFont>
    <p:embeddedFont>
      <p:font typeface="Garet Bold" charset="1" panose="00000000000000000000"/>
      <p:regular r:id="rId18"/>
    </p:embeddedFont>
    <p:embeddedFont>
      <p:font typeface="Open Sans" charset="1" panose="00000000000000000000"/>
      <p:regular r:id="rId19"/>
    </p:embeddedFont>
    <p:embeddedFont>
      <p:font typeface="Gilda Display" charset="1" panose="02000000000000000000"/>
      <p:regular r:id="rId20"/>
    </p:embeddedFont>
    <p:embeddedFont>
      <p:font typeface="HK Grotesk Light" charset="1" panose="00000400000000000000"/>
      <p:regular r:id="rId21"/>
    </p:embeddedFont>
    <p:embeddedFont>
      <p:font typeface="HK Grotesk Bold" charset="1" panose="00000800000000000000"/>
      <p:regular r:id="rId22"/>
    </p:embeddedFont>
    <p:embeddedFont>
      <p:font typeface="HK Grotesk" charset="1" panose="00000500000000000000"/>
      <p:regular r:id="rId23"/>
    </p:embeddedFont>
    <p:embeddedFont>
      <p:font typeface="TT Hoves Bold" charset="1" panose="02000003020000060003"/>
      <p:regular r:id="rId24"/>
    </p:embeddedFont>
    <p:embeddedFont>
      <p:font typeface="TT Hoves" charset="1" panose="020000030200000600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2748" y="2733154"/>
            <a:ext cx="5982881" cy="1017288"/>
            <a:chOff x="0" y="0"/>
            <a:chExt cx="1575738" cy="267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5738" cy="267928"/>
            </a:xfrm>
            <a:custGeom>
              <a:avLst/>
              <a:gdLst/>
              <a:ahLst/>
              <a:cxnLst/>
              <a:rect r="r" b="b" t="t" l="l"/>
              <a:pathLst>
                <a:path h="267928" w="1575738">
                  <a:moveTo>
                    <a:pt x="129401" y="0"/>
                  </a:moveTo>
                  <a:lnTo>
                    <a:pt x="1446337" y="0"/>
                  </a:lnTo>
                  <a:cubicBezTo>
                    <a:pt x="1517803" y="0"/>
                    <a:pt x="1575738" y="57935"/>
                    <a:pt x="1575738" y="129401"/>
                  </a:cubicBezTo>
                  <a:lnTo>
                    <a:pt x="1575738" y="138527"/>
                  </a:lnTo>
                  <a:cubicBezTo>
                    <a:pt x="1575738" y="209993"/>
                    <a:pt x="1517803" y="267928"/>
                    <a:pt x="1446337" y="267928"/>
                  </a:cubicBezTo>
                  <a:lnTo>
                    <a:pt x="129401" y="267928"/>
                  </a:lnTo>
                  <a:cubicBezTo>
                    <a:pt x="57935" y="267928"/>
                    <a:pt x="0" y="209993"/>
                    <a:pt x="0" y="138527"/>
                  </a:cubicBezTo>
                  <a:lnTo>
                    <a:pt x="0" y="129401"/>
                  </a:lnTo>
                  <a:cubicBezTo>
                    <a:pt x="0" y="57935"/>
                    <a:pt x="57935" y="0"/>
                    <a:pt x="129401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575738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7576" y="4126212"/>
            <a:ext cx="5982881" cy="1017288"/>
            <a:chOff x="0" y="0"/>
            <a:chExt cx="1575738" cy="2679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5738" cy="267928"/>
            </a:xfrm>
            <a:custGeom>
              <a:avLst/>
              <a:gdLst/>
              <a:ahLst/>
              <a:cxnLst/>
              <a:rect r="r" b="b" t="t" l="l"/>
              <a:pathLst>
                <a:path h="267928" w="1575738">
                  <a:moveTo>
                    <a:pt x="129401" y="0"/>
                  </a:moveTo>
                  <a:lnTo>
                    <a:pt x="1446337" y="0"/>
                  </a:lnTo>
                  <a:cubicBezTo>
                    <a:pt x="1517803" y="0"/>
                    <a:pt x="1575738" y="57935"/>
                    <a:pt x="1575738" y="129401"/>
                  </a:cubicBezTo>
                  <a:lnTo>
                    <a:pt x="1575738" y="138527"/>
                  </a:lnTo>
                  <a:cubicBezTo>
                    <a:pt x="1575738" y="209993"/>
                    <a:pt x="1517803" y="267928"/>
                    <a:pt x="1446337" y="267928"/>
                  </a:cubicBezTo>
                  <a:lnTo>
                    <a:pt x="129401" y="267928"/>
                  </a:lnTo>
                  <a:cubicBezTo>
                    <a:pt x="57935" y="267928"/>
                    <a:pt x="0" y="209993"/>
                    <a:pt x="0" y="138527"/>
                  </a:cubicBezTo>
                  <a:lnTo>
                    <a:pt x="0" y="129401"/>
                  </a:lnTo>
                  <a:cubicBezTo>
                    <a:pt x="0" y="57935"/>
                    <a:pt x="57935" y="0"/>
                    <a:pt x="129401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575738" cy="325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Daniel salazar vargas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2748" y="5610524"/>
            <a:ext cx="5982881" cy="1017288"/>
            <a:chOff x="0" y="0"/>
            <a:chExt cx="1575738" cy="2679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5738" cy="267928"/>
            </a:xfrm>
            <a:custGeom>
              <a:avLst/>
              <a:gdLst/>
              <a:ahLst/>
              <a:cxnLst/>
              <a:rect r="r" b="b" t="t" l="l"/>
              <a:pathLst>
                <a:path h="267928" w="1575738">
                  <a:moveTo>
                    <a:pt x="129401" y="0"/>
                  </a:moveTo>
                  <a:lnTo>
                    <a:pt x="1446337" y="0"/>
                  </a:lnTo>
                  <a:cubicBezTo>
                    <a:pt x="1517803" y="0"/>
                    <a:pt x="1575738" y="57935"/>
                    <a:pt x="1575738" y="129401"/>
                  </a:cubicBezTo>
                  <a:lnTo>
                    <a:pt x="1575738" y="138527"/>
                  </a:lnTo>
                  <a:cubicBezTo>
                    <a:pt x="1575738" y="209993"/>
                    <a:pt x="1517803" y="267928"/>
                    <a:pt x="1446337" y="267928"/>
                  </a:cubicBezTo>
                  <a:lnTo>
                    <a:pt x="129401" y="267928"/>
                  </a:lnTo>
                  <a:cubicBezTo>
                    <a:pt x="57935" y="267928"/>
                    <a:pt x="0" y="209993"/>
                    <a:pt x="0" y="138527"/>
                  </a:cubicBezTo>
                  <a:lnTo>
                    <a:pt x="0" y="129401"/>
                  </a:lnTo>
                  <a:cubicBezTo>
                    <a:pt x="0" y="57935"/>
                    <a:pt x="57935" y="0"/>
                    <a:pt x="129401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75738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7576" y="7149514"/>
            <a:ext cx="5982881" cy="1017288"/>
            <a:chOff x="0" y="0"/>
            <a:chExt cx="1575738" cy="267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75738" cy="267928"/>
            </a:xfrm>
            <a:custGeom>
              <a:avLst/>
              <a:gdLst/>
              <a:ahLst/>
              <a:cxnLst/>
              <a:rect r="r" b="b" t="t" l="l"/>
              <a:pathLst>
                <a:path h="267928" w="1575738">
                  <a:moveTo>
                    <a:pt x="129401" y="0"/>
                  </a:moveTo>
                  <a:lnTo>
                    <a:pt x="1446337" y="0"/>
                  </a:lnTo>
                  <a:cubicBezTo>
                    <a:pt x="1517803" y="0"/>
                    <a:pt x="1575738" y="57935"/>
                    <a:pt x="1575738" y="129401"/>
                  </a:cubicBezTo>
                  <a:lnTo>
                    <a:pt x="1575738" y="138527"/>
                  </a:lnTo>
                  <a:cubicBezTo>
                    <a:pt x="1575738" y="209993"/>
                    <a:pt x="1517803" y="267928"/>
                    <a:pt x="1446337" y="267928"/>
                  </a:cubicBezTo>
                  <a:lnTo>
                    <a:pt x="129401" y="267928"/>
                  </a:lnTo>
                  <a:cubicBezTo>
                    <a:pt x="57935" y="267928"/>
                    <a:pt x="0" y="209993"/>
                    <a:pt x="0" y="138527"/>
                  </a:cubicBezTo>
                  <a:lnTo>
                    <a:pt x="0" y="129401"/>
                  </a:lnTo>
                  <a:cubicBezTo>
                    <a:pt x="0" y="57935"/>
                    <a:pt x="57935" y="0"/>
                    <a:pt x="129401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75738" cy="325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Valery Sinaí Trujillo Quintero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880658" y="622375"/>
            <a:ext cx="9243798" cy="9243798"/>
          </a:xfrm>
          <a:custGeom>
            <a:avLst/>
            <a:gdLst/>
            <a:ahLst/>
            <a:cxnLst/>
            <a:rect r="r" b="b" t="t" l="l"/>
            <a:pathLst>
              <a:path h="9243798" w="9243798">
                <a:moveTo>
                  <a:pt x="0" y="0"/>
                </a:moveTo>
                <a:lnTo>
                  <a:pt x="9243798" y="0"/>
                </a:lnTo>
                <a:lnTo>
                  <a:pt x="9243798" y="9243798"/>
                </a:lnTo>
                <a:lnTo>
                  <a:pt x="0" y="9243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42975"/>
            <a:ext cx="11473857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INTEGRANTES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5695" y="3032248"/>
            <a:ext cx="558664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Mariana Valenzuela Penagos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3815" y="5909618"/>
            <a:ext cx="497215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Maria Jose Rodriguez Oyola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54330" y="6119168"/>
            <a:ext cx="3106534" cy="1017288"/>
            <a:chOff x="0" y="0"/>
            <a:chExt cx="818182" cy="267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8182" cy="267928"/>
            </a:xfrm>
            <a:custGeom>
              <a:avLst/>
              <a:gdLst/>
              <a:ahLst/>
              <a:cxnLst/>
              <a:rect r="r" b="b" t="t" l="l"/>
              <a:pathLst>
                <a:path h="267928" w="818182">
                  <a:moveTo>
                    <a:pt x="0" y="0"/>
                  </a:moveTo>
                  <a:lnTo>
                    <a:pt x="818182" y="0"/>
                  </a:lnTo>
                  <a:lnTo>
                    <a:pt x="818182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8182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10872589" y="1772471"/>
            <a:ext cx="3259937" cy="325993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303762" y="2643748"/>
            <a:ext cx="4901136" cy="4901136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950388" y="6119168"/>
            <a:ext cx="9803941" cy="1017288"/>
            <a:chOff x="0" y="0"/>
            <a:chExt cx="2582108" cy="267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2108" cy="267928"/>
            </a:xfrm>
            <a:custGeom>
              <a:avLst/>
              <a:gdLst/>
              <a:ahLst/>
              <a:cxnLst/>
              <a:rect r="r" b="b" t="t" l="l"/>
              <a:pathLst>
                <a:path h="267928" w="2582108">
                  <a:moveTo>
                    <a:pt x="0" y="0"/>
                  </a:moveTo>
                  <a:lnTo>
                    <a:pt x="2582108" y="0"/>
                  </a:lnTo>
                  <a:lnTo>
                    <a:pt x="2582108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582108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40396" y="5094316"/>
            <a:ext cx="1470026" cy="553882"/>
            <a:chOff x="0" y="0"/>
            <a:chExt cx="600197" cy="226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35591" y="3402439"/>
            <a:ext cx="1243953" cy="432150"/>
            <a:chOff x="0" y="0"/>
            <a:chExt cx="507894" cy="1764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894" cy="176443"/>
            </a:xfrm>
            <a:custGeom>
              <a:avLst/>
              <a:gdLst/>
              <a:ahLst/>
              <a:cxnLst/>
              <a:rect r="r" b="b" t="t" l="l"/>
              <a:pathLst>
                <a:path h="176443" w="507894">
                  <a:moveTo>
                    <a:pt x="253947" y="176443"/>
                  </a:moveTo>
                  <a:lnTo>
                    <a:pt x="507894" y="0"/>
                  </a:lnTo>
                  <a:lnTo>
                    <a:pt x="0" y="0"/>
                  </a:lnTo>
                  <a:lnTo>
                    <a:pt x="253947" y="176443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9358" y="-15972"/>
              <a:ext cx="349177" cy="11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1579" y="6119168"/>
            <a:ext cx="2381250" cy="1017288"/>
            <a:chOff x="0" y="0"/>
            <a:chExt cx="627160" cy="267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57631" y="6119168"/>
            <a:ext cx="2381250" cy="1017288"/>
            <a:chOff x="0" y="0"/>
            <a:chExt cx="627160" cy="267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03684" y="6119168"/>
            <a:ext cx="2381250" cy="1017288"/>
            <a:chOff x="0" y="0"/>
            <a:chExt cx="627160" cy="267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72850" y="6119168"/>
            <a:ext cx="2667000" cy="1017288"/>
            <a:chOff x="0" y="0"/>
            <a:chExt cx="702420" cy="267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2420" cy="267928"/>
            </a:xfrm>
            <a:custGeom>
              <a:avLst/>
              <a:gdLst/>
              <a:ahLst/>
              <a:cxnLst/>
              <a:rect r="r" b="b" t="t" l="l"/>
              <a:pathLst>
                <a:path h="267928" w="702420">
                  <a:moveTo>
                    <a:pt x="133964" y="0"/>
                  </a:moveTo>
                  <a:lnTo>
                    <a:pt x="568456" y="0"/>
                  </a:lnTo>
                  <a:cubicBezTo>
                    <a:pt x="642442" y="0"/>
                    <a:pt x="702420" y="59978"/>
                    <a:pt x="702420" y="133964"/>
                  </a:cubicBezTo>
                  <a:lnTo>
                    <a:pt x="702420" y="133964"/>
                  </a:lnTo>
                  <a:cubicBezTo>
                    <a:pt x="702420" y="207950"/>
                    <a:pt x="642442" y="267928"/>
                    <a:pt x="568456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0242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13349282" y="6350871"/>
            <a:ext cx="1470026" cy="553882"/>
            <a:chOff x="0" y="0"/>
            <a:chExt cx="600197" cy="226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35454" y="3335887"/>
            <a:ext cx="1333500" cy="13335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681506" y="3335887"/>
            <a:ext cx="1333500" cy="13335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27559" y="2204276"/>
            <a:ext cx="1333500" cy="13335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242977" y="3335887"/>
            <a:ext cx="1333500" cy="133350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2373604" y="37740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989028" y="3774037"/>
            <a:ext cx="718457" cy="457200"/>
          </a:xfrm>
          <a:custGeom>
            <a:avLst/>
            <a:gdLst/>
            <a:ahLst/>
            <a:cxnLst/>
            <a:rect r="r" b="b" t="t" l="l"/>
            <a:pathLst>
              <a:path h="457200" w="718457">
                <a:moveTo>
                  <a:pt x="0" y="0"/>
                </a:moveTo>
                <a:lnTo>
                  <a:pt x="718457" y="0"/>
                </a:lnTo>
                <a:lnTo>
                  <a:pt x="71845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870007" y="2604326"/>
            <a:ext cx="480060" cy="533400"/>
          </a:xfrm>
          <a:custGeom>
            <a:avLst/>
            <a:gdLst/>
            <a:ahLst/>
            <a:cxnLst/>
            <a:rect r="r" b="b" t="t" l="l"/>
            <a:pathLst>
              <a:path h="533400" w="480060">
                <a:moveTo>
                  <a:pt x="0" y="0"/>
                </a:moveTo>
                <a:lnTo>
                  <a:pt x="480060" y="0"/>
                </a:lnTo>
                <a:lnTo>
                  <a:pt x="48006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675516" y="3735937"/>
            <a:ext cx="468422" cy="533400"/>
          </a:xfrm>
          <a:custGeom>
            <a:avLst/>
            <a:gdLst/>
            <a:ahLst/>
            <a:cxnLst/>
            <a:rect r="r" b="b" t="t" l="l"/>
            <a:pathLst>
              <a:path h="533400" w="468422">
                <a:moveTo>
                  <a:pt x="0" y="0"/>
                </a:moveTo>
                <a:lnTo>
                  <a:pt x="468422" y="0"/>
                </a:lnTo>
                <a:lnTo>
                  <a:pt x="468422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28700" y="942975"/>
            <a:ext cx="11473857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METODOLOGÍA SCRUM 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65565" y="6370637"/>
            <a:ext cx="14732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Backlog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5391" y="7591425"/>
            <a:ext cx="233362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Es una metodología que es implementada no solo en software sino en escuelas, gobiernos, marketing.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77188" y="7591425"/>
            <a:ext cx="233362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Fue creada a partir del rugby ya que en este los jugadores se pasan la pelota y deben trabajar en equipo para ganar.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04146" y="6370637"/>
            <a:ext cx="188822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Planning Meeting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505754" y="6370637"/>
            <a:ext cx="11771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Backlog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17795" y="6370637"/>
            <a:ext cx="11771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Finished Work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165774" y="4847382"/>
            <a:ext cx="11771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1-4 Weeks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933052" y="3088237"/>
            <a:ext cx="117711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 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006225" y="7591425"/>
            <a:ext cx="2333625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 diferencia de la metodología cascada scrum trabaja con los entregables cada dos semanas y permite implementar mejoras para el producto.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865565" y="4987579"/>
            <a:ext cx="14732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611617" y="4980732"/>
            <a:ext cx="147327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357670" y="3855503"/>
            <a:ext cx="14732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Master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084295" y="2449939"/>
            <a:ext cx="13335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Daily Standup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735139" y="4980732"/>
            <a:ext cx="25241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Review &amp; Sprint Retrospective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3188" y="2518722"/>
            <a:ext cx="6172159" cy="6168078"/>
            <a:chOff x="0" y="0"/>
            <a:chExt cx="812800" cy="8122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263"/>
            </a:xfrm>
            <a:custGeom>
              <a:avLst/>
              <a:gdLst/>
              <a:ahLst/>
              <a:cxnLst/>
              <a:rect r="r" b="b" t="t" l="l"/>
              <a:pathLst>
                <a:path h="812263" w="812800">
                  <a:moveTo>
                    <a:pt x="406400" y="0"/>
                  </a:moveTo>
                  <a:lnTo>
                    <a:pt x="812800" y="812263"/>
                  </a:lnTo>
                  <a:lnTo>
                    <a:pt x="0" y="81226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348547"/>
              <a:ext cx="558800" cy="405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8115300"/>
            <a:ext cx="7761134" cy="1143000"/>
            <a:chOff x="0" y="0"/>
            <a:chExt cx="2044085" cy="3010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4085" cy="301037"/>
            </a:xfrm>
            <a:custGeom>
              <a:avLst/>
              <a:gdLst/>
              <a:ahLst/>
              <a:cxnLst/>
              <a:rect r="r" b="b" t="t" l="l"/>
              <a:pathLst>
                <a:path h="301037" w="2044085">
                  <a:moveTo>
                    <a:pt x="99752" y="0"/>
                  </a:moveTo>
                  <a:lnTo>
                    <a:pt x="1944332" y="0"/>
                  </a:lnTo>
                  <a:cubicBezTo>
                    <a:pt x="1999424" y="0"/>
                    <a:pt x="2044085" y="44661"/>
                    <a:pt x="2044085" y="99752"/>
                  </a:cubicBezTo>
                  <a:lnTo>
                    <a:pt x="2044085" y="201285"/>
                  </a:lnTo>
                  <a:cubicBezTo>
                    <a:pt x="2044085" y="227741"/>
                    <a:pt x="2033575" y="253113"/>
                    <a:pt x="2014868" y="271820"/>
                  </a:cubicBezTo>
                  <a:cubicBezTo>
                    <a:pt x="1996161" y="290527"/>
                    <a:pt x="1970788" y="301037"/>
                    <a:pt x="1944332" y="301037"/>
                  </a:cubicBezTo>
                  <a:lnTo>
                    <a:pt x="99752" y="301037"/>
                  </a:lnTo>
                  <a:cubicBezTo>
                    <a:pt x="44661" y="301037"/>
                    <a:pt x="0" y="256376"/>
                    <a:pt x="0" y="201285"/>
                  </a:cubicBezTo>
                  <a:lnTo>
                    <a:pt x="0" y="99752"/>
                  </a:lnTo>
                  <a:cubicBezTo>
                    <a:pt x="0" y="73296"/>
                    <a:pt x="10510" y="47924"/>
                    <a:pt x="29217" y="29217"/>
                  </a:cubicBezTo>
                  <a:cubicBezTo>
                    <a:pt x="47924" y="10510"/>
                    <a:pt x="73296" y="0"/>
                    <a:pt x="99752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44085" cy="339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ARTEFACTOS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7293" y="5804310"/>
            <a:ext cx="6403948" cy="1143000"/>
            <a:chOff x="0" y="0"/>
            <a:chExt cx="1686637" cy="3010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6637" cy="301037"/>
            </a:xfrm>
            <a:custGeom>
              <a:avLst/>
              <a:gdLst/>
              <a:ahLst/>
              <a:cxnLst/>
              <a:rect r="r" b="b" t="t" l="l"/>
              <a:pathLst>
                <a:path h="301037" w="1686637">
                  <a:moveTo>
                    <a:pt x="120893" y="0"/>
                  </a:moveTo>
                  <a:lnTo>
                    <a:pt x="1565744" y="0"/>
                  </a:lnTo>
                  <a:cubicBezTo>
                    <a:pt x="1632511" y="0"/>
                    <a:pt x="1686637" y="54126"/>
                    <a:pt x="1686637" y="120893"/>
                  </a:cubicBezTo>
                  <a:lnTo>
                    <a:pt x="1686637" y="180144"/>
                  </a:lnTo>
                  <a:cubicBezTo>
                    <a:pt x="1686637" y="246911"/>
                    <a:pt x="1632511" y="301037"/>
                    <a:pt x="1565744" y="301037"/>
                  </a:cubicBezTo>
                  <a:lnTo>
                    <a:pt x="120893" y="301037"/>
                  </a:lnTo>
                  <a:cubicBezTo>
                    <a:pt x="54126" y="301037"/>
                    <a:pt x="0" y="246911"/>
                    <a:pt x="0" y="180144"/>
                  </a:cubicBezTo>
                  <a:lnTo>
                    <a:pt x="0" y="120893"/>
                  </a:lnTo>
                  <a:cubicBezTo>
                    <a:pt x="0" y="54126"/>
                    <a:pt x="54126" y="0"/>
                    <a:pt x="120893" y="0"/>
                  </a:cubicBez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86637" cy="339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EVENTOS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93213" y="3493321"/>
            <a:ext cx="4832109" cy="1143000"/>
            <a:chOff x="0" y="0"/>
            <a:chExt cx="1272654" cy="3010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2654" cy="301037"/>
            </a:xfrm>
            <a:custGeom>
              <a:avLst/>
              <a:gdLst/>
              <a:ahLst/>
              <a:cxnLst/>
              <a:rect r="r" b="b" t="t" l="l"/>
              <a:pathLst>
                <a:path h="301037" w="1272654">
                  <a:moveTo>
                    <a:pt x="150519" y="0"/>
                  </a:moveTo>
                  <a:lnTo>
                    <a:pt x="1122136" y="0"/>
                  </a:lnTo>
                  <a:cubicBezTo>
                    <a:pt x="1162056" y="0"/>
                    <a:pt x="1200341" y="15858"/>
                    <a:pt x="1228568" y="44086"/>
                  </a:cubicBezTo>
                  <a:cubicBezTo>
                    <a:pt x="1256796" y="72314"/>
                    <a:pt x="1272654" y="110599"/>
                    <a:pt x="1272654" y="150519"/>
                  </a:cubicBezTo>
                  <a:lnTo>
                    <a:pt x="1272654" y="150519"/>
                  </a:lnTo>
                  <a:cubicBezTo>
                    <a:pt x="1272654" y="190439"/>
                    <a:pt x="1256796" y="228723"/>
                    <a:pt x="1228568" y="256951"/>
                  </a:cubicBezTo>
                  <a:cubicBezTo>
                    <a:pt x="1200341" y="285179"/>
                    <a:pt x="1162056" y="301037"/>
                    <a:pt x="1122136" y="301037"/>
                  </a:cubicBezTo>
                  <a:lnTo>
                    <a:pt x="150519" y="301037"/>
                  </a:lnTo>
                  <a:cubicBezTo>
                    <a:pt x="110599" y="301037"/>
                    <a:pt x="72314" y="285179"/>
                    <a:pt x="44086" y="256951"/>
                  </a:cubicBezTo>
                  <a:cubicBezTo>
                    <a:pt x="15858" y="228723"/>
                    <a:pt x="0" y="190439"/>
                    <a:pt x="0" y="150519"/>
                  </a:cubicBezTo>
                  <a:lnTo>
                    <a:pt x="0" y="150519"/>
                  </a:lnTo>
                  <a:cubicBezTo>
                    <a:pt x="0" y="110599"/>
                    <a:pt x="15858" y="72314"/>
                    <a:pt x="44086" y="44086"/>
                  </a:cubicBezTo>
                  <a:cubicBezTo>
                    <a:pt x="72314" y="15858"/>
                    <a:pt x="110599" y="0"/>
                    <a:pt x="150519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2654" cy="339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ROLES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55711" y="8115300"/>
            <a:ext cx="4817984" cy="1143000"/>
            <a:chOff x="0" y="0"/>
            <a:chExt cx="1268934" cy="3010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8934" cy="301037"/>
            </a:xfrm>
            <a:custGeom>
              <a:avLst/>
              <a:gdLst/>
              <a:ahLst/>
              <a:cxnLst/>
              <a:rect r="r" b="b" t="t" l="l"/>
              <a:pathLst>
                <a:path h="301037" w="1268934">
                  <a:moveTo>
                    <a:pt x="150519" y="0"/>
                  </a:moveTo>
                  <a:lnTo>
                    <a:pt x="1118416" y="0"/>
                  </a:lnTo>
                  <a:cubicBezTo>
                    <a:pt x="1158336" y="0"/>
                    <a:pt x="1196621" y="15858"/>
                    <a:pt x="1224848" y="44086"/>
                  </a:cubicBezTo>
                  <a:cubicBezTo>
                    <a:pt x="1253076" y="72314"/>
                    <a:pt x="1268934" y="110599"/>
                    <a:pt x="1268934" y="150519"/>
                  </a:cubicBezTo>
                  <a:lnTo>
                    <a:pt x="1268934" y="150519"/>
                  </a:lnTo>
                  <a:cubicBezTo>
                    <a:pt x="1268934" y="190439"/>
                    <a:pt x="1253076" y="228723"/>
                    <a:pt x="1224848" y="256951"/>
                  </a:cubicBezTo>
                  <a:cubicBezTo>
                    <a:pt x="1196621" y="285179"/>
                    <a:pt x="1158336" y="301037"/>
                    <a:pt x="1118416" y="301037"/>
                  </a:cubicBezTo>
                  <a:lnTo>
                    <a:pt x="150519" y="301037"/>
                  </a:lnTo>
                  <a:cubicBezTo>
                    <a:pt x="110599" y="301037"/>
                    <a:pt x="72314" y="285179"/>
                    <a:pt x="44086" y="256951"/>
                  </a:cubicBezTo>
                  <a:cubicBezTo>
                    <a:pt x="15858" y="228723"/>
                    <a:pt x="0" y="190439"/>
                    <a:pt x="0" y="150519"/>
                  </a:cubicBezTo>
                  <a:lnTo>
                    <a:pt x="0" y="150519"/>
                  </a:lnTo>
                  <a:cubicBezTo>
                    <a:pt x="0" y="110599"/>
                    <a:pt x="15858" y="72314"/>
                    <a:pt x="44086" y="44086"/>
                  </a:cubicBezTo>
                  <a:cubicBezTo>
                    <a:pt x="72314" y="15858"/>
                    <a:pt x="110599" y="0"/>
                    <a:pt x="150519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68934" cy="329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55711" y="5804310"/>
            <a:ext cx="4817984" cy="1143000"/>
            <a:chOff x="0" y="0"/>
            <a:chExt cx="1268934" cy="3010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8934" cy="301037"/>
            </a:xfrm>
            <a:custGeom>
              <a:avLst/>
              <a:gdLst/>
              <a:ahLst/>
              <a:cxnLst/>
              <a:rect r="r" b="b" t="t" l="l"/>
              <a:pathLst>
                <a:path h="301037" w="1268934">
                  <a:moveTo>
                    <a:pt x="150519" y="0"/>
                  </a:moveTo>
                  <a:lnTo>
                    <a:pt x="1118416" y="0"/>
                  </a:lnTo>
                  <a:cubicBezTo>
                    <a:pt x="1158336" y="0"/>
                    <a:pt x="1196621" y="15858"/>
                    <a:pt x="1224848" y="44086"/>
                  </a:cubicBezTo>
                  <a:cubicBezTo>
                    <a:pt x="1253076" y="72314"/>
                    <a:pt x="1268934" y="110599"/>
                    <a:pt x="1268934" y="150519"/>
                  </a:cubicBezTo>
                  <a:lnTo>
                    <a:pt x="1268934" y="150519"/>
                  </a:lnTo>
                  <a:cubicBezTo>
                    <a:pt x="1268934" y="190439"/>
                    <a:pt x="1253076" y="228723"/>
                    <a:pt x="1224848" y="256951"/>
                  </a:cubicBezTo>
                  <a:cubicBezTo>
                    <a:pt x="1196621" y="285179"/>
                    <a:pt x="1158336" y="301037"/>
                    <a:pt x="1118416" y="301037"/>
                  </a:cubicBezTo>
                  <a:lnTo>
                    <a:pt x="150519" y="301037"/>
                  </a:lnTo>
                  <a:cubicBezTo>
                    <a:pt x="110599" y="301037"/>
                    <a:pt x="72314" y="285179"/>
                    <a:pt x="44086" y="256951"/>
                  </a:cubicBezTo>
                  <a:cubicBezTo>
                    <a:pt x="15858" y="228723"/>
                    <a:pt x="0" y="190439"/>
                    <a:pt x="0" y="150519"/>
                  </a:cubicBezTo>
                  <a:lnTo>
                    <a:pt x="0" y="150519"/>
                  </a:lnTo>
                  <a:cubicBezTo>
                    <a:pt x="0" y="110599"/>
                    <a:pt x="15858" y="72314"/>
                    <a:pt x="44086" y="44086"/>
                  </a:cubicBezTo>
                  <a:cubicBezTo>
                    <a:pt x="72314" y="15858"/>
                    <a:pt x="110599" y="0"/>
                    <a:pt x="150519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68934" cy="329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87478" y="3394485"/>
            <a:ext cx="4817984" cy="1143000"/>
            <a:chOff x="0" y="0"/>
            <a:chExt cx="1268934" cy="3010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8934" cy="301037"/>
            </a:xfrm>
            <a:custGeom>
              <a:avLst/>
              <a:gdLst/>
              <a:ahLst/>
              <a:cxnLst/>
              <a:rect r="r" b="b" t="t" l="l"/>
              <a:pathLst>
                <a:path h="301037" w="1268934">
                  <a:moveTo>
                    <a:pt x="150519" y="0"/>
                  </a:moveTo>
                  <a:lnTo>
                    <a:pt x="1118416" y="0"/>
                  </a:lnTo>
                  <a:cubicBezTo>
                    <a:pt x="1158336" y="0"/>
                    <a:pt x="1196621" y="15858"/>
                    <a:pt x="1224848" y="44086"/>
                  </a:cubicBezTo>
                  <a:cubicBezTo>
                    <a:pt x="1253076" y="72314"/>
                    <a:pt x="1268934" y="110599"/>
                    <a:pt x="1268934" y="150519"/>
                  </a:cubicBezTo>
                  <a:lnTo>
                    <a:pt x="1268934" y="150519"/>
                  </a:lnTo>
                  <a:cubicBezTo>
                    <a:pt x="1268934" y="190439"/>
                    <a:pt x="1253076" y="228723"/>
                    <a:pt x="1224848" y="256951"/>
                  </a:cubicBezTo>
                  <a:cubicBezTo>
                    <a:pt x="1196621" y="285179"/>
                    <a:pt x="1158336" y="301037"/>
                    <a:pt x="1118416" y="301037"/>
                  </a:cubicBezTo>
                  <a:lnTo>
                    <a:pt x="150519" y="301037"/>
                  </a:lnTo>
                  <a:cubicBezTo>
                    <a:pt x="110599" y="301037"/>
                    <a:pt x="72314" y="285179"/>
                    <a:pt x="44086" y="256951"/>
                  </a:cubicBezTo>
                  <a:cubicBezTo>
                    <a:pt x="15858" y="228723"/>
                    <a:pt x="0" y="190439"/>
                    <a:pt x="0" y="150519"/>
                  </a:cubicBezTo>
                  <a:lnTo>
                    <a:pt x="0" y="150519"/>
                  </a:lnTo>
                  <a:cubicBezTo>
                    <a:pt x="0" y="110599"/>
                    <a:pt x="15858" y="72314"/>
                    <a:pt x="44086" y="44086"/>
                  </a:cubicBezTo>
                  <a:cubicBezTo>
                    <a:pt x="72314" y="15858"/>
                    <a:pt x="110599" y="0"/>
                    <a:pt x="150519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68934" cy="329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8700" y="981075"/>
            <a:ext cx="12036003" cy="52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TRES PILARES BÁSICOS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42632" y="8329612"/>
            <a:ext cx="390767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Herramientas visibles que muestran el progreso; Product Backlog, Sprint Backlog e Incremento.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06294" y="3608798"/>
            <a:ext cx="418035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Personas responsables de que el scrum funcione. Ej Product Owner, Scrum Master y el equipo de desarrollo.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42632" y="6018623"/>
            <a:ext cx="390767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Reuniones con un propósito claro; Sprint, Sprint Planning, Daily Scrum, Sprint Review, Sprint retrospective.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64458" y="2762969"/>
            <a:ext cx="4602666" cy="762000"/>
            <a:chOff x="0" y="0"/>
            <a:chExt cx="1212225" cy="2006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2225" cy="200691"/>
            </a:xfrm>
            <a:custGeom>
              <a:avLst/>
              <a:gdLst/>
              <a:ahLst/>
              <a:cxnLst/>
              <a:rect r="r" b="b" t="t" l="l"/>
              <a:pathLst>
                <a:path h="200691" w="1212225">
                  <a:moveTo>
                    <a:pt x="0" y="0"/>
                  </a:moveTo>
                  <a:lnTo>
                    <a:pt x="1212225" y="0"/>
                  </a:lnTo>
                  <a:lnTo>
                    <a:pt x="1212225" y="200691"/>
                  </a:lnTo>
                  <a:lnTo>
                    <a:pt x="0" y="200691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12225" cy="229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29619"/>
            <a:ext cx="3775316" cy="762000"/>
            <a:chOff x="0" y="0"/>
            <a:chExt cx="994322" cy="2006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4322" cy="200691"/>
            </a:xfrm>
            <a:custGeom>
              <a:avLst/>
              <a:gdLst/>
              <a:ahLst/>
              <a:cxnLst/>
              <a:rect r="r" b="b" t="t" l="l"/>
              <a:pathLst>
                <a:path h="200691" w="994322">
                  <a:moveTo>
                    <a:pt x="0" y="0"/>
                  </a:moveTo>
                  <a:lnTo>
                    <a:pt x="994322" y="0"/>
                  </a:lnTo>
                  <a:lnTo>
                    <a:pt x="994322" y="200691"/>
                  </a:lnTo>
                  <a:lnTo>
                    <a:pt x="0" y="200691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94322" cy="229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02275" y="5982199"/>
            <a:ext cx="7163076" cy="3276101"/>
          </a:xfrm>
          <a:custGeom>
            <a:avLst/>
            <a:gdLst/>
            <a:ahLst/>
            <a:cxnLst/>
            <a:rect r="r" b="b" t="t" l="l"/>
            <a:pathLst>
              <a:path h="3276101" w="7163076">
                <a:moveTo>
                  <a:pt x="0" y="0"/>
                </a:moveTo>
                <a:lnTo>
                  <a:pt x="7163076" y="0"/>
                </a:lnTo>
                <a:lnTo>
                  <a:pt x="7163076" y="3276101"/>
                </a:lnTo>
                <a:lnTo>
                  <a:pt x="0" y="327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07" t="-26893" r="-9522" b="-1642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04048" y="5982199"/>
            <a:ext cx="7163076" cy="3276101"/>
          </a:xfrm>
          <a:custGeom>
            <a:avLst/>
            <a:gdLst/>
            <a:ahLst/>
            <a:cxnLst/>
            <a:rect r="r" b="b" t="t" l="l"/>
            <a:pathLst>
              <a:path h="3276101" w="7163076">
                <a:moveTo>
                  <a:pt x="0" y="0"/>
                </a:moveTo>
                <a:lnTo>
                  <a:pt x="7163076" y="0"/>
                </a:lnTo>
                <a:lnTo>
                  <a:pt x="7163076" y="3276101"/>
                </a:lnTo>
                <a:lnTo>
                  <a:pt x="0" y="3276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75" t="-23616" r="0" b="-15418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1028700"/>
            <a:ext cx="14273301" cy="1048083"/>
            <a:chOff x="0" y="0"/>
            <a:chExt cx="19031068" cy="139744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19031068" cy="68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33333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HERRAMIENTAS DE GESTIÓN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13222"/>
              <a:ext cx="19031068" cy="484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48695" y="2772494"/>
            <a:ext cx="2335327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BURNUP (Trabajo completado)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1293" y="2886821"/>
            <a:ext cx="3468997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BURNDOWN (Trabajo pendiente)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04048" y="3619500"/>
            <a:ext cx="1809483" cy="1524000"/>
            <a:chOff x="0" y="0"/>
            <a:chExt cx="965057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5057" cy="812800"/>
            </a:xfrm>
            <a:custGeom>
              <a:avLst/>
              <a:gdLst/>
              <a:ahLst/>
              <a:cxnLst/>
              <a:rect r="r" b="b" t="t" l="l"/>
              <a:pathLst>
                <a:path h="812800" w="965057">
                  <a:moveTo>
                    <a:pt x="482529" y="0"/>
                  </a:moveTo>
                  <a:cubicBezTo>
                    <a:pt x="216035" y="0"/>
                    <a:pt x="0" y="181951"/>
                    <a:pt x="0" y="406400"/>
                  </a:cubicBezTo>
                  <a:cubicBezTo>
                    <a:pt x="0" y="630849"/>
                    <a:pt x="216035" y="812800"/>
                    <a:pt x="482529" y="812800"/>
                  </a:cubicBezTo>
                  <a:cubicBezTo>
                    <a:pt x="749022" y="812800"/>
                    <a:pt x="965057" y="630849"/>
                    <a:pt x="965057" y="406400"/>
                  </a:cubicBezTo>
                  <a:cubicBezTo>
                    <a:pt x="965057" y="181951"/>
                    <a:pt x="749022" y="0"/>
                    <a:pt x="482529" y="0"/>
                  </a:cubicBezTo>
                  <a:close/>
                </a:path>
              </a:pathLst>
            </a:custGeom>
            <a:solidFill>
              <a:srgbClr val="C93E2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90474" y="47625"/>
              <a:ext cx="784109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55868" y="3619500"/>
            <a:ext cx="1809483" cy="1524000"/>
            <a:chOff x="0" y="0"/>
            <a:chExt cx="965057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5057" cy="812800"/>
            </a:xfrm>
            <a:custGeom>
              <a:avLst/>
              <a:gdLst/>
              <a:ahLst/>
              <a:cxnLst/>
              <a:rect r="r" b="b" t="t" l="l"/>
              <a:pathLst>
                <a:path h="812800" w="965057">
                  <a:moveTo>
                    <a:pt x="482529" y="0"/>
                  </a:moveTo>
                  <a:cubicBezTo>
                    <a:pt x="216035" y="0"/>
                    <a:pt x="0" y="181951"/>
                    <a:pt x="0" y="406400"/>
                  </a:cubicBezTo>
                  <a:cubicBezTo>
                    <a:pt x="0" y="630849"/>
                    <a:pt x="216035" y="812800"/>
                    <a:pt x="482529" y="812800"/>
                  </a:cubicBezTo>
                  <a:cubicBezTo>
                    <a:pt x="749022" y="812800"/>
                    <a:pt x="965057" y="630849"/>
                    <a:pt x="965057" y="406400"/>
                  </a:cubicBezTo>
                  <a:cubicBezTo>
                    <a:pt x="965057" y="181951"/>
                    <a:pt x="749022" y="0"/>
                    <a:pt x="482529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90474" y="47625"/>
              <a:ext cx="784109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  <a:r>
                <a:rPr lang="en-US" b="true" sz="17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IDEAL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0416"/>
            <a:ext cx="6629666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CONCEPTOS CLAVES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36637" y="8288711"/>
            <a:ext cx="8449966" cy="945247"/>
            <a:chOff x="0" y="0"/>
            <a:chExt cx="2225505" cy="248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414582" y="8288711"/>
            <a:ext cx="1209936" cy="943610"/>
            <a:chOff x="0" y="0"/>
            <a:chExt cx="540403" cy="4214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66755" y="7971366"/>
            <a:ext cx="915527" cy="1572684"/>
            <a:chOff x="0" y="0"/>
            <a:chExt cx="588238" cy="10104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56568" y="8523210"/>
            <a:ext cx="148294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40235" y="8523210"/>
            <a:ext cx="38296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Periodo breve de tiempo (1-2 semanas) en dónde el equipo construye y hace entrega de algo que ya funciona.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504811" y="6716293"/>
            <a:ext cx="8449966" cy="945247"/>
            <a:chOff x="0" y="0"/>
            <a:chExt cx="2225505" cy="2489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63397" y="6716293"/>
            <a:ext cx="1281368" cy="943610"/>
            <a:chOff x="0" y="0"/>
            <a:chExt cx="572307" cy="4214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15570" y="6398947"/>
            <a:ext cx="915527" cy="1572684"/>
            <a:chOff x="0" y="0"/>
            <a:chExt cx="588238" cy="10104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005383" y="6950791"/>
            <a:ext cx="193654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BACKLOG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89050" y="6950791"/>
            <a:ext cx="38296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Conjunto de requerimientos, historias de usuario, y tareas que el equipo debe implementar en el sprint.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272986" y="5143874"/>
            <a:ext cx="8449966" cy="945247"/>
            <a:chOff x="0" y="0"/>
            <a:chExt cx="2225505" cy="2489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112212" y="5143874"/>
            <a:ext cx="1209936" cy="943610"/>
            <a:chOff x="0" y="0"/>
            <a:chExt cx="540403" cy="4214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864385" y="4826528"/>
            <a:ext cx="915527" cy="1572684"/>
            <a:chOff x="0" y="0"/>
            <a:chExt cx="588238" cy="10104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854197" y="5378372"/>
            <a:ext cx="138113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GOA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37865" y="5378372"/>
            <a:ext cx="38296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Propósito específico que debe completar el equipo de trabajo dentro del sprint.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041160" y="3571455"/>
            <a:ext cx="8449966" cy="945247"/>
            <a:chOff x="0" y="0"/>
            <a:chExt cx="2225505" cy="2489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961027" y="3571455"/>
            <a:ext cx="1281368" cy="943610"/>
            <a:chOff x="0" y="0"/>
            <a:chExt cx="572307" cy="42145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2307" cy="421452"/>
            </a:xfrm>
            <a:custGeom>
              <a:avLst/>
              <a:gdLst/>
              <a:ahLst/>
              <a:cxnLst/>
              <a:rect r="r" b="b" t="t" l="l"/>
              <a:pathLst>
                <a:path h="421452" w="572307">
                  <a:moveTo>
                    <a:pt x="203200" y="0"/>
                  </a:moveTo>
                  <a:lnTo>
                    <a:pt x="369107" y="0"/>
                  </a:lnTo>
                  <a:lnTo>
                    <a:pt x="572307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27000" y="-28575"/>
              <a:ext cx="318307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13199" y="3254109"/>
            <a:ext cx="915527" cy="1572684"/>
            <a:chOff x="0" y="0"/>
            <a:chExt cx="588238" cy="10104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7703012" y="3805953"/>
            <a:ext cx="117228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DAILY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086680" y="3805953"/>
            <a:ext cx="4094467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Reunión diaria que se realiza para charlar de manera rápida como va el desarrollo del sprint.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809334" y="1999036"/>
            <a:ext cx="8449966" cy="945247"/>
            <a:chOff x="0" y="0"/>
            <a:chExt cx="2225505" cy="2489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25505" cy="248954"/>
            </a:xfrm>
            <a:custGeom>
              <a:avLst/>
              <a:gdLst/>
              <a:ahLst/>
              <a:cxnLst/>
              <a:rect r="r" b="b" t="t" l="l"/>
              <a:pathLst>
                <a:path h="248954" w="2225505">
                  <a:moveTo>
                    <a:pt x="0" y="0"/>
                  </a:moveTo>
                  <a:lnTo>
                    <a:pt x="2225505" y="0"/>
                  </a:lnTo>
                  <a:lnTo>
                    <a:pt x="2225505" y="248954"/>
                  </a:lnTo>
                  <a:lnTo>
                    <a:pt x="0" y="2489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225505" cy="277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809842" y="1999036"/>
            <a:ext cx="1209936" cy="943610"/>
            <a:chOff x="0" y="0"/>
            <a:chExt cx="540403" cy="4214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0403" cy="421452"/>
            </a:xfrm>
            <a:custGeom>
              <a:avLst/>
              <a:gdLst/>
              <a:ahLst/>
              <a:cxnLst/>
              <a:rect r="r" b="b" t="t" l="l"/>
              <a:pathLst>
                <a:path h="421452" w="540403">
                  <a:moveTo>
                    <a:pt x="203200" y="0"/>
                  </a:moveTo>
                  <a:lnTo>
                    <a:pt x="337203" y="0"/>
                  </a:lnTo>
                  <a:lnTo>
                    <a:pt x="540403" y="421452"/>
                  </a:lnTo>
                  <a:lnTo>
                    <a:pt x="0" y="42145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27000" y="-28575"/>
              <a:ext cx="286403" cy="450027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62014" y="1681691"/>
            <a:ext cx="915527" cy="1572684"/>
            <a:chOff x="0" y="0"/>
            <a:chExt cx="588238" cy="10104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8238" cy="1010470"/>
            </a:xfrm>
            <a:custGeom>
              <a:avLst/>
              <a:gdLst/>
              <a:ahLst/>
              <a:cxnLst/>
              <a:rect r="r" b="b" t="t" l="l"/>
              <a:pathLst>
                <a:path h="1010470" w="588238">
                  <a:moveTo>
                    <a:pt x="588238" y="505235"/>
                  </a:moveTo>
                  <a:lnTo>
                    <a:pt x="181838" y="0"/>
                  </a:lnTo>
                  <a:lnTo>
                    <a:pt x="181838" y="203200"/>
                  </a:lnTo>
                  <a:lnTo>
                    <a:pt x="0" y="203200"/>
                  </a:lnTo>
                  <a:lnTo>
                    <a:pt x="0" y="807270"/>
                  </a:lnTo>
                  <a:lnTo>
                    <a:pt x="181838" y="807270"/>
                  </a:lnTo>
                  <a:lnTo>
                    <a:pt x="181838" y="1010470"/>
                  </a:lnTo>
                  <a:lnTo>
                    <a:pt x="588238" y="505235"/>
                  </a:ln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174625"/>
              <a:ext cx="486638" cy="632645"/>
            </a:xfrm>
            <a:prstGeom prst="rect">
              <a:avLst/>
            </a:prstGeom>
          </p:spPr>
          <p:txBody>
            <a:bodyPr anchor="ctr" rtlCol="false" tIns="34965" lIns="34965" bIns="34965" rIns="34965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237865" y="2233534"/>
            <a:ext cx="169509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RETROSPECTIVA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935495" y="2233534"/>
            <a:ext cx="38296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Charla final para realizar un a retroalimentación de lo que salió bien y lo que se puede mejorar.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504811" y="8473362"/>
            <a:ext cx="1011474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46804" y="6903166"/>
            <a:ext cx="1011474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188798" y="5332970"/>
            <a:ext cx="1011474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030791" y="3762774"/>
            <a:ext cx="1011474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872784" y="2192578"/>
            <a:ext cx="1011474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72725" y="2004694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5" t="0" r="-8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40626" y="531178"/>
            <a:ext cx="1029557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E5E7EB"/>
                </a:solidFill>
                <a:latin typeface="Gilda Display"/>
                <a:ea typeface="Gilda Display"/>
                <a:cs typeface="Gilda Display"/>
                <a:sym typeface="Gilda Display"/>
              </a:rPr>
              <a:t>¿Que es  MoSCoW?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3729" y="1028700"/>
            <a:ext cx="9593783" cy="4308221"/>
            <a:chOff x="0" y="0"/>
            <a:chExt cx="12791711" cy="57442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279171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12791711" cy="4964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</a:p>
            <a:p>
              <a:pPr algn="l" marL="0" indent="0" lvl="0">
                <a:lnSpc>
                  <a:spcPts val="2859"/>
                </a:lnSpc>
              </a:pPr>
            </a:p>
            <a:p>
              <a:pPr algn="l" marL="0" indent="0" lvl="0">
                <a:lnSpc>
                  <a:spcPts val="2859"/>
                </a:lnSpc>
              </a:pPr>
            </a:p>
            <a:p>
              <a:pPr algn="l" marL="582927" indent="-291463" lvl="1">
                <a:lnSpc>
                  <a:spcPts val="3509"/>
                </a:lnSpc>
                <a:buFont typeface="Arial"/>
                <a:buChar char="•"/>
              </a:pPr>
              <a:r>
                <a:rPr lang="en-US" sz="2699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Técnica de priorización de requisitos</a:t>
              </a:r>
            </a:p>
            <a:p>
              <a:pPr algn="l">
                <a:lnSpc>
                  <a:spcPts val="3509"/>
                </a:lnSpc>
              </a:pPr>
            </a:p>
            <a:p>
              <a:pPr algn="l" marL="582927" indent="-291463" lvl="1">
                <a:lnSpc>
                  <a:spcPts val="3509"/>
                </a:lnSpc>
                <a:buFont typeface="Arial"/>
                <a:buChar char="•"/>
              </a:pPr>
              <a:r>
                <a:rPr lang="en-US" sz="2699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Permite clasificar funcionalidades según importancia</a:t>
              </a:r>
            </a:p>
            <a:p>
              <a:pPr algn="l">
                <a:lnSpc>
                  <a:spcPts val="3509"/>
                </a:lnSpc>
              </a:pPr>
            </a:p>
            <a:p>
              <a:pPr algn="l" marL="582927" indent="-291463" lvl="1">
                <a:lnSpc>
                  <a:spcPts val="3509"/>
                </a:lnSpc>
                <a:buFont typeface="Arial"/>
                <a:buChar char="•"/>
              </a:pPr>
              <a:r>
                <a:rPr lang="en-US" sz="2699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Ayuda a optimizar tiempo y recursos</a:t>
              </a:r>
            </a:p>
            <a:p>
              <a:pPr algn="l" marL="0" indent="0" lvl="0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813290">
            <a:off x="-7998005" y="514445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38500" y="4248150"/>
            <a:ext cx="3181350" cy="2686050"/>
            <a:chOff x="0" y="0"/>
            <a:chExt cx="721712" cy="6093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1712" cy="609349"/>
            </a:xfrm>
            <a:custGeom>
              <a:avLst/>
              <a:gdLst/>
              <a:ahLst/>
              <a:cxnLst/>
              <a:rect r="r" b="b" t="t" l="l"/>
              <a:pathLst>
                <a:path h="609349" w="721712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4"/>
              <a:stretch>
                <a:fillRect l="-181" t="0" r="-181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553325" y="4248150"/>
            <a:ext cx="3181350" cy="2686050"/>
            <a:chOff x="0" y="0"/>
            <a:chExt cx="721712" cy="609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712" cy="609349"/>
            </a:xfrm>
            <a:custGeom>
              <a:avLst/>
              <a:gdLst/>
              <a:ahLst/>
              <a:cxnLst/>
              <a:rect r="r" b="b" t="t" l="l"/>
              <a:pathLst>
                <a:path h="609349" w="721712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5"/>
              <a:stretch>
                <a:fillRect l="-181" t="0" r="-181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868150" y="4248150"/>
            <a:ext cx="3181350" cy="2686050"/>
            <a:chOff x="0" y="0"/>
            <a:chExt cx="721712" cy="6093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1712" cy="609349"/>
            </a:xfrm>
            <a:custGeom>
              <a:avLst/>
              <a:gdLst/>
              <a:ahLst/>
              <a:cxnLst/>
              <a:rect r="r" b="b" t="t" l="l"/>
              <a:pathLst>
                <a:path h="609349" w="721712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6"/>
              <a:stretch>
                <a:fillRect l="-181" t="0" r="-181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824162" y="1716859"/>
            <a:ext cx="126396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E5E7EB"/>
                </a:solidFill>
                <a:latin typeface="Gilda Display"/>
                <a:ea typeface="Gilda Display"/>
                <a:cs typeface="Gilda Display"/>
                <a:sym typeface="Gilda Display"/>
              </a:rPr>
              <a:t>Significado de </a:t>
            </a:r>
            <a:r>
              <a:rPr lang="en-US" sz="8799">
                <a:solidFill>
                  <a:srgbClr val="E5E7EB"/>
                </a:solidFill>
                <a:latin typeface="Gilda Display"/>
                <a:ea typeface="Gilda Display"/>
                <a:cs typeface="Gilda Display"/>
                <a:sym typeface="Gilda Display"/>
              </a:rPr>
              <a:t>MoSCoW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238500" y="7829550"/>
            <a:ext cx="3181350" cy="1289558"/>
            <a:chOff x="0" y="0"/>
            <a:chExt cx="4241800" cy="171941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4241082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 - Must</a:t>
              </a:r>
              <a:r>
                <a:rPr lang="en-US" b="true" sz="30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Have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62889"/>
              <a:ext cx="42418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b="true" sz="22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Elementos esenciales</a:t>
              </a:r>
              <a:r>
                <a:rPr lang="en-US" sz="2200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para el éxito del proyecto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53325" y="7829550"/>
            <a:ext cx="3181350" cy="1289558"/>
            <a:chOff x="0" y="0"/>
            <a:chExt cx="4241800" cy="171941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4241082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 - Should</a:t>
              </a:r>
              <a:r>
                <a:rPr lang="en-US" b="true" sz="30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Have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62889"/>
              <a:ext cx="42418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b="true" sz="22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Elementos importantes</a:t>
              </a:r>
              <a:r>
                <a:rPr lang="en-US" sz="2200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pero no críticos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68150" y="7820372"/>
            <a:ext cx="3181350" cy="1298735"/>
            <a:chOff x="0" y="0"/>
            <a:chExt cx="4241800" cy="1731647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4241082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 - Could Have: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75126"/>
              <a:ext cx="42418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b="true" sz="2200">
                  <a:solidFill>
                    <a:srgbClr val="E5E7E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Elementos opcionales</a:t>
              </a:r>
              <a:r>
                <a:rPr lang="en-US" sz="2200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que mejoran el proyecto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240120" cy="8220074"/>
            <a:chOff x="0" y="0"/>
            <a:chExt cx="12320159" cy="109600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029199"/>
              <a:ext cx="11099800" cy="593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Identificamos los requisitos críticos (Must Have)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Priorizamos funcionalidades de valor (Should/Could Have)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Delimitamos lo que no entra en esta versión (Won’t Have)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7EB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Garantizamos planificación estructurada y realista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2320159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E5E7EB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Como aplicamos</a:t>
              </a:r>
              <a:r>
                <a:rPr lang="en-US" sz="8799">
                  <a:solidFill>
                    <a:srgbClr val="E5E7EB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 MoSCoW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931047">
            <a:off x="13238956" y="6273814"/>
            <a:ext cx="12130788" cy="11424996"/>
          </a:xfrm>
          <a:custGeom>
            <a:avLst/>
            <a:gdLst/>
            <a:ahLst/>
            <a:cxnLst/>
            <a:rect r="r" b="b" t="t" l="l"/>
            <a:pathLst>
              <a:path h="11424996" w="12130788">
                <a:moveTo>
                  <a:pt x="0" y="0"/>
                </a:moveTo>
                <a:lnTo>
                  <a:pt x="12130787" y="0"/>
                </a:lnTo>
                <a:lnTo>
                  <a:pt x="12130787" y="11424997"/>
                </a:lnTo>
                <a:lnTo>
                  <a:pt x="0" y="1142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88422" y="6038850"/>
            <a:ext cx="5426628" cy="3581400"/>
            <a:chOff x="0" y="0"/>
            <a:chExt cx="1624600" cy="10721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24600" cy="1072184"/>
            </a:xfrm>
            <a:custGeom>
              <a:avLst/>
              <a:gdLst/>
              <a:ahLst/>
              <a:cxnLst/>
              <a:rect r="r" b="b" t="t" l="l"/>
              <a:pathLst>
                <a:path h="1072184" w="1624600">
                  <a:moveTo>
                    <a:pt x="57066" y="0"/>
                  </a:moveTo>
                  <a:lnTo>
                    <a:pt x="1567534" y="0"/>
                  </a:lnTo>
                  <a:cubicBezTo>
                    <a:pt x="1582669" y="0"/>
                    <a:pt x="1597184" y="6012"/>
                    <a:pt x="1607886" y="16714"/>
                  </a:cubicBezTo>
                  <a:cubicBezTo>
                    <a:pt x="1618588" y="27416"/>
                    <a:pt x="1624600" y="41931"/>
                    <a:pt x="1624600" y="57066"/>
                  </a:cubicBezTo>
                  <a:lnTo>
                    <a:pt x="1624600" y="1015118"/>
                  </a:lnTo>
                  <a:cubicBezTo>
                    <a:pt x="1624600" y="1030253"/>
                    <a:pt x="1618588" y="1044768"/>
                    <a:pt x="1607886" y="1055470"/>
                  </a:cubicBezTo>
                  <a:cubicBezTo>
                    <a:pt x="1597184" y="1066172"/>
                    <a:pt x="1582669" y="1072184"/>
                    <a:pt x="1567534" y="1072184"/>
                  </a:cubicBezTo>
                  <a:lnTo>
                    <a:pt x="57066" y="1072184"/>
                  </a:lnTo>
                  <a:cubicBezTo>
                    <a:pt x="25549" y="1072184"/>
                    <a:pt x="0" y="1046635"/>
                    <a:pt x="0" y="1015118"/>
                  </a:cubicBezTo>
                  <a:lnTo>
                    <a:pt x="0" y="57066"/>
                  </a:lnTo>
                  <a:cubicBezTo>
                    <a:pt x="0" y="25549"/>
                    <a:pt x="25549" y="0"/>
                    <a:pt x="57066" y="0"/>
                  </a:cubicBezTo>
                  <a:close/>
                </a:path>
              </a:pathLst>
            </a:custGeom>
            <a:blipFill>
              <a:blip r:embed="rId4"/>
              <a:stretch>
                <a:fillRect l="-283" t="0" r="-283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419850" y="6038850"/>
            <a:ext cx="5448300" cy="3581400"/>
            <a:chOff x="0" y="0"/>
            <a:chExt cx="1631088" cy="10721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1088" cy="1072184"/>
            </a:xfrm>
            <a:custGeom>
              <a:avLst/>
              <a:gdLst/>
              <a:ahLst/>
              <a:cxnLst/>
              <a:rect r="r" b="b" t="t" l="l"/>
              <a:pathLst>
                <a:path h="1072184" w="1631088">
                  <a:moveTo>
                    <a:pt x="56839" y="0"/>
                  </a:moveTo>
                  <a:lnTo>
                    <a:pt x="1574249" y="0"/>
                  </a:lnTo>
                  <a:cubicBezTo>
                    <a:pt x="1605641" y="0"/>
                    <a:pt x="1631088" y="25448"/>
                    <a:pt x="1631088" y="56839"/>
                  </a:cubicBezTo>
                  <a:lnTo>
                    <a:pt x="1631088" y="1015345"/>
                  </a:lnTo>
                  <a:cubicBezTo>
                    <a:pt x="1631088" y="1046736"/>
                    <a:pt x="1605641" y="1072184"/>
                    <a:pt x="1574249" y="1072184"/>
                  </a:cubicBezTo>
                  <a:lnTo>
                    <a:pt x="56839" y="1072184"/>
                  </a:lnTo>
                  <a:cubicBezTo>
                    <a:pt x="25448" y="1072184"/>
                    <a:pt x="0" y="1046736"/>
                    <a:pt x="0" y="101534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blipFill>
              <a:blip r:embed="rId5"/>
              <a:stretch>
                <a:fillRect l="-83" t="0" r="-83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6038850"/>
            <a:ext cx="5448300" cy="3581400"/>
            <a:chOff x="0" y="0"/>
            <a:chExt cx="1631088" cy="107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1088" cy="1072184"/>
            </a:xfrm>
            <a:custGeom>
              <a:avLst/>
              <a:gdLst/>
              <a:ahLst/>
              <a:cxnLst/>
              <a:rect r="r" b="b" t="t" l="l"/>
              <a:pathLst>
                <a:path h="1072184" w="1631088">
                  <a:moveTo>
                    <a:pt x="56839" y="0"/>
                  </a:moveTo>
                  <a:lnTo>
                    <a:pt x="1574249" y="0"/>
                  </a:lnTo>
                  <a:cubicBezTo>
                    <a:pt x="1605641" y="0"/>
                    <a:pt x="1631088" y="25448"/>
                    <a:pt x="1631088" y="56839"/>
                  </a:cubicBezTo>
                  <a:lnTo>
                    <a:pt x="1631088" y="1015345"/>
                  </a:lnTo>
                  <a:cubicBezTo>
                    <a:pt x="1631088" y="1046736"/>
                    <a:pt x="1605641" y="1072184"/>
                    <a:pt x="1574249" y="1072184"/>
                  </a:cubicBezTo>
                  <a:lnTo>
                    <a:pt x="56839" y="1072184"/>
                  </a:lnTo>
                  <a:cubicBezTo>
                    <a:pt x="25448" y="1072184"/>
                    <a:pt x="0" y="1046736"/>
                    <a:pt x="0" y="101534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blipFill>
              <a:blip r:embed="rId6"/>
              <a:stretch>
                <a:fillRect l="-83" t="0" r="-83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88422" y="666750"/>
            <a:ext cx="15945796" cy="4482707"/>
            <a:chOff x="0" y="0"/>
            <a:chExt cx="21261061" cy="597694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95257" y="3348043"/>
              <a:ext cx="21065804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7E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Sistema funcional y organizado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7E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Requisitos claros y priorizados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E5E7E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Escalable para futuras mejoras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1450"/>
              <a:ext cx="21065804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E5E7EB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Conclución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378075"/>
              <a:ext cx="2106580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00591" y="2505852"/>
            <a:ext cx="7366307" cy="736630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9580677" y="3119711"/>
            <a:ext cx="462789" cy="462789"/>
            <a:chOff x="0" y="0"/>
            <a:chExt cx="121887" cy="1218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887" cy="121887"/>
            </a:xfrm>
            <a:custGeom>
              <a:avLst/>
              <a:gdLst/>
              <a:ahLst/>
              <a:cxnLst/>
              <a:rect r="r" b="b" t="t" l="l"/>
              <a:pathLst>
                <a:path h="121887" w="121887">
                  <a:moveTo>
                    <a:pt x="0" y="0"/>
                  </a:moveTo>
                  <a:lnTo>
                    <a:pt x="121887" y="0"/>
                  </a:lnTo>
                  <a:lnTo>
                    <a:pt x="121887" y="121887"/>
                  </a:lnTo>
                  <a:lnTo>
                    <a:pt x="0" y="121887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1887" cy="150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80677" y="4323518"/>
            <a:ext cx="462789" cy="462789"/>
            <a:chOff x="0" y="0"/>
            <a:chExt cx="121887" cy="1218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887" cy="121887"/>
            </a:xfrm>
            <a:custGeom>
              <a:avLst/>
              <a:gdLst/>
              <a:ahLst/>
              <a:cxnLst/>
              <a:rect r="r" b="b" t="t" l="l"/>
              <a:pathLst>
                <a:path h="121887" w="121887">
                  <a:moveTo>
                    <a:pt x="0" y="0"/>
                  </a:moveTo>
                  <a:lnTo>
                    <a:pt x="121887" y="0"/>
                  </a:lnTo>
                  <a:lnTo>
                    <a:pt x="121887" y="121887"/>
                  </a:lnTo>
                  <a:lnTo>
                    <a:pt x="0" y="121887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1887" cy="150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268020" y="5744035"/>
            <a:ext cx="2382988" cy="93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b="true" sz="2725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LAS 5 FASES PRINCIPALES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80677" y="5527326"/>
            <a:ext cx="462789" cy="462789"/>
            <a:chOff x="0" y="0"/>
            <a:chExt cx="121887" cy="1218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887" cy="121887"/>
            </a:xfrm>
            <a:custGeom>
              <a:avLst/>
              <a:gdLst/>
              <a:ahLst/>
              <a:cxnLst/>
              <a:rect r="r" b="b" t="t" l="l"/>
              <a:pathLst>
                <a:path h="121887" w="121887">
                  <a:moveTo>
                    <a:pt x="0" y="0"/>
                  </a:moveTo>
                  <a:lnTo>
                    <a:pt x="121887" y="0"/>
                  </a:lnTo>
                  <a:lnTo>
                    <a:pt x="121887" y="121887"/>
                  </a:lnTo>
                  <a:lnTo>
                    <a:pt x="0" y="121887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1887" cy="150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80677" y="6731133"/>
            <a:ext cx="462789" cy="462789"/>
            <a:chOff x="0" y="0"/>
            <a:chExt cx="121887" cy="1218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887" cy="121887"/>
            </a:xfrm>
            <a:custGeom>
              <a:avLst/>
              <a:gdLst/>
              <a:ahLst/>
              <a:cxnLst/>
              <a:rect r="r" b="b" t="t" l="l"/>
              <a:pathLst>
                <a:path h="121887" w="121887">
                  <a:moveTo>
                    <a:pt x="0" y="0"/>
                  </a:moveTo>
                  <a:lnTo>
                    <a:pt x="121887" y="0"/>
                  </a:lnTo>
                  <a:lnTo>
                    <a:pt x="121887" y="121887"/>
                  </a:lnTo>
                  <a:lnTo>
                    <a:pt x="0" y="121887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1887" cy="150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80677" y="7934941"/>
            <a:ext cx="462789" cy="462789"/>
            <a:chOff x="0" y="0"/>
            <a:chExt cx="121887" cy="1218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1887" cy="121887"/>
            </a:xfrm>
            <a:custGeom>
              <a:avLst/>
              <a:gdLst/>
              <a:ahLst/>
              <a:cxnLst/>
              <a:rect r="r" b="b" t="t" l="l"/>
              <a:pathLst>
                <a:path h="121887" w="121887">
                  <a:moveTo>
                    <a:pt x="0" y="0"/>
                  </a:moveTo>
                  <a:lnTo>
                    <a:pt x="121887" y="0"/>
                  </a:lnTo>
                  <a:lnTo>
                    <a:pt x="121887" y="121887"/>
                  </a:lnTo>
                  <a:lnTo>
                    <a:pt x="0" y="121887"/>
                  </a:ln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1887" cy="150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1062261">
            <a:off x="5567488" y="5452436"/>
            <a:ext cx="2158427" cy="813260"/>
            <a:chOff x="0" y="0"/>
            <a:chExt cx="600197" cy="226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3262050">
            <a:off x="4339530" y="7863241"/>
            <a:ext cx="2158427" cy="813260"/>
            <a:chOff x="0" y="0"/>
            <a:chExt cx="600197" cy="2261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00A99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7556167">
            <a:off x="1644561" y="7416164"/>
            <a:ext cx="2158427" cy="813260"/>
            <a:chOff x="0" y="0"/>
            <a:chExt cx="600197" cy="226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9720000">
            <a:off x="1229988" y="4695457"/>
            <a:ext cx="2158427" cy="813260"/>
            <a:chOff x="0" y="0"/>
            <a:chExt cx="600197" cy="226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0085A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3701636" y="3465596"/>
            <a:ext cx="2158427" cy="813260"/>
            <a:chOff x="0" y="0"/>
            <a:chExt cx="600197" cy="2261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6132227" y="4797287"/>
            <a:ext cx="548640" cy="609600"/>
          </a:xfrm>
          <a:custGeom>
            <a:avLst/>
            <a:gdLst/>
            <a:ahLst/>
            <a:cxnLst/>
            <a:rect r="r" b="b" t="t" l="l"/>
            <a:pathLst>
              <a:path h="609600" w="548640">
                <a:moveTo>
                  <a:pt x="0" y="0"/>
                </a:moveTo>
                <a:lnTo>
                  <a:pt x="548640" y="0"/>
                </a:lnTo>
                <a:lnTo>
                  <a:pt x="54864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782724" y="7393212"/>
            <a:ext cx="548640" cy="609600"/>
          </a:xfrm>
          <a:custGeom>
            <a:avLst/>
            <a:gdLst/>
            <a:ahLst/>
            <a:cxnLst/>
            <a:rect r="r" b="b" t="t" l="l"/>
            <a:pathLst>
              <a:path h="609600" w="548640">
                <a:moveTo>
                  <a:pt x="0" y="0"/>
                </a:moveTo>
                <a:lnTo>
                  <a:pt x="548640" y="0"/>
                </a:lnTo>
                <a:lnTo>
                  <a:pt x="54864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2912610" y="7934941"/>
            <a:ext cx="548640" cy="609600"/>
          </a:xfrm>
          <a:custGeom>
            <a:avLst/>
            <a:gdLst/>
            <a:ahLst/>
            <a:cxnLst/>
            <a:rect r="r" b="b" t="t" l="l"/>
            <a:pathLst>
              <a:path h="609600" w="548640">
                <a:moveTo>
                  <a:pt x="0" y="0"/>
                </a:moveTo>
                <a:lnTo>
                  <a:pt x="548640" y="0"/>
                </a:lnTo>
                <a:lnTo>
                  <a:pt x="54864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715444" y="5486860"/>
            <a:ext cx="711847" cy="609600"/>
          </a:xfrm>
          <a:custGeom>
            <a:avLst/>
            <a:gdLst/>
            <a:ahLst/>
            <a:cxnLst/>
            <a:rect r="r" b="b" t="t" l="l"/>
            <a:pathLst>
              <a:path h="609600" w="711847">
                <a:moveTo>
                  <a:pt x="0" y="0"/>
                </a:moveTo>
                <a:lnTo>
                  <a:pt x="711847" y="0"/>
                </a:lnTo>
                <a:lnTo>
                  <a:pt x="711847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105218" y="3665192"/>
            <a:ext cx="712063" cy="533400"/>
          </a:xfrm>
          <a:custGeom>
            <a:avLst/>
            <a:gdLst/>
            <a:ahLst/>
            <a:cxnLst/>
            <a:rect r="r" b="b" t="t" l="l"/>
            <a:pathLst>
              <a:path h="533400" w="712063">
                <a:moveTo>
                  <a:pt x="0" y="0"/>
                </a:moveTo>
                <a:lnTo>
                  <a:pt x="712064" y="0"/>
                </a:lnTo>
                <a:lnTo>
                  <a:pt x="712064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28700" y="625121"/>
            <a:ext cx="12253831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DESIGN THINKING (PENSAMIENTO DE DISEÑO)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1495226"/>
            <a:ext cx="12253831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metodología creativa y centrada en las personas que se usa para resolver problemas complejos de forma innovadora.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443332" y="3149482"/>
            <a:ext cx="4251959" cy="866036"/>
            <a:chOff x="0" y="0"/>
            <a:chExt cx="5669278" cy="1154715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0"/>
              <a:ext cx="5669278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5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Empatizar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0" y="519715"/>
              <a:ext cx="5669278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Entender a fondo a las personas para las que estás diseñando: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43332" y="4353289"/>
            <a:ext cx="4251959" cy="866036"/>
            <a:chOff x="0" y="0"/>
            <a:chExt cx="5669278" cy="1154715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0" y="0"/>
              <a:ext cx="5669278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5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Definir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0" y="519715"/>
              <a:ext cx="5669278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Analizar e interpretar lo que aprendiste para definir claramente el problema 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43332" y="5552700"/>
            <a:ext cx="4251959" cy="866036"/>
            <a:chOff x="0" y="0"/>
            <a:chExt cx="5669278" cy="1154715"/>
          </a:xfrm>
        </p:grpSpPr>
        <p:sp>
          <p:nvSpPr>
            <p:cNvPr name="TextBox 48" id="48"/>
            <p:cNvSpPr txBox="true"/>
            <p:nvPr/>
          </p:nvSpPr>
          <p:spPr>
            <a:xfrm rot="0">
              <a:off x="0" y="0"/>
              <a:ext cx="5669278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5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Idear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0" y="519715"/>
              <a:ext cx="5669278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Generar muchas ideas creativas sin autocrítica, buscando soluciones nuevas. 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443332" y="6760904"/>
            <a:ext cx="4251959" cy="1104161"/>
            <a:chOff x="0" y="0"/>
            <a:chExt cx="5669278" cy="1472215"/>
          </a:xfrm>
        </p:grpSpPr>
        <p:sp>
          <p:nvSpPr>
            <p:cNvPr name="TextBox 51" id="51"/>
            <p:cNvSpPr txBox="true"/>
            <p:nvPr/>
          </p:nvSpPr>
          <p:spPr>
            <a:xfrm rot="0">
              <a:off x="0" y="0"/>
              <a:ext cx="5669278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5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Prototipar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0" y="519715"/>
              <a:ext cx="5669278" cy="95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Crear versiones simples y tangibles de las ideas para visualizarlas y experimentar con ellas.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443332" y="7964712"/>
            <a:ext cx="4251959" cy="866036"/>
            <a:chOff x="0" y="0"/>
            <a:chExt cx="5669278" cy="1154715"/>
          </a:xfrm>
        </p:grpSpPr>
        <p:sp>
          <p:nvSpPr>
            <p:cNvPr name="TextBox 54" id="54"/>
            <p:cNvSpPr txBox="true"/>
            <p:nvPr/>
          </p:nvSpPr>
          <p:spPr>
            <a:xfrm rot="0">
              <a:off x="0" y="0"/>
              <a:ext cx="5669278" cy="317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599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Testear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0" y="519715"/>
              <a:ext cx="5669278" cy="63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Probar esos prototipos con usuarios reales, para asi mejorara las soluciones del usuario. 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580677" y="2338986"/>
            <a:ext cx="7835889" cy="48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4"/>
              </a:lnSpc>
              <a:spcBef>
                <a:spcPct val="0"/>
              </a:spcBef>
            </a:pPr>
            <a:r>
              <a:rPr lang="en-US" b="true" sz="2917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COMO FUNCIONA LA METODOLOGIA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77104" y="4607334"/>
            <a:ext cx="7694878" cy="1410531"/>
            <a:chOff x="0" y="0"/>
            <a:chExt cx="2217036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7036" cy="406400"/>
            </a:xfrm>
            <a:custGeom>
              <a:avLst/>
              <a:gdLst/>
              <a:ahLst/>
              <a:cxnLst/>
              <a:rect r="r" b="b" t="t" l="l"/>
              <a:pathLst>
                <a:path h="406400" w="2217036">
                  <a:moveTo>
                    <a:pt x="201383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013836" y="406400"/>
                  </a:lnTo>
                  <a:lnTo>
                    <a:pt x="2217036" y="203200"/>
                  </a:lnTo>
                  <a:lnTo>
                    <a:pt x="2013836" y="0"/>
                  </a:lnTo>
                  <a:close/>
                </a:path>
              </a:pathLst>
            </a:custGeom>
            <a:solidFill>
              <a:srgbClr val="0088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02736" cy="425450"/>
            </a:xfrm>
            <a:prstGeom prst="rect">
              <a:avLst/>
            </a:prstGeom>
          </p:spPr>
          <p:txBody>
            <a:bodyPr anchor="ctr" rtlCol="false" tIns="43615" lIns="43615" bIns="43615" rIns="43615"/>
            <a:lstStyle/>
            <a:p>
              <a:pPr algn="ctr" marL="0" indent="0" lvl="0">
                <a:lnSpc>
                  <a:spcPts val="216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77104" y="3196803"/>
            <a:ext cx="5544080" cy="1299761"/>
            <a:chOff x="0" y="0"/>
            <a:chExt cx="1445080" cy="3387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5080" cy="338786"/>
            </a:xfrm>
            <a:custGeom>
              <a:avLst/>
              <a:gdLst/>
              <a:ahLst/>
              <a:cxnLst/>
              <a:rect r="r" b="b" t="t" l="l"/>
              <a:pathLst>
                <a:path h="338786" w="1445080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292F5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445080" cy="357836"/>
            </a:xfrm>
            <a:prstGeom prst="rect">
              <a:avLst/>
            </a:prstGeom>
          </p:spPr>
          <p:txBody>
            <a:bodyPr anchor="ctr" rtlCol="false" tIns="43615" lIns="43615" bIns="43615" rIns="43615"/>
            <a:lstStyle/>
            <a:p>
              <a:pPr algn="ctr" marL="0" indent="0" lvl="0">
                <a:lnSpc>
                  <a:spcPts val="216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76749" y="2572115"/>
            <a:ext cx="1842558" cy="1924449"/>
            <a:chOff x="0" y="0"/>
            <a:chExt cx="571500" cy="596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292F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79400"/>
              <a:ext cx="285750" cy="317500"/>
            </a:xfrm>
            <a:prstGeom prst="rect">
              <a:avLst/>
            </a:prstGeom>
          </p:spPr>
          <p:txBody>
            <a:bodyPr anchor="ctr" rtlCol="false" tIns="43615" lIns="43615" bIns="43615" rIns="43615"/>
            <a:lstStyle/>
            <a:p>
              <a:pPr algn="ctr" marL="0" indent="0" lvl="0">
                <a:lnSpc>
                  <a:spcPts val="216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77104" y="6132354"/>
            <a:ext cx="5544080" cy="1299761"/>
            <a:chOff x="0" y="0"/>
            <a:chExt cx="1445080" cy="3387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5080" cy="338786"/>
            </a:xfrm>
            <a:custGeom>
              <a:avLst/>
              <a:gdLst/>
              <a:ahLst/>
              <a:cxnLst/>
              <a:rect r="r" b="b" t="t" l="l"/>
              <a:pathLst>
                <a:path h="338786" w="1445080">
                  <a:moveTo>
                    <a:pt x="0" y="0"/>
                  </a:moveTo>
                  <a:lnTo>
                    <a:pt x="1445080" y="0"/>
                  </a:lnTo>
                  <a:lnTo>
                    <a:pt x="1445080" y="338786"/>
                  </a:lnTo>
                  <a:lnTo>
                    <a:pt x="0" y="338786"/>
                  </a:lnTo>
                  <a:close/>
                </a:path>
              </a:pathLst>
            </a:custGeom>
            <a:solidFill>
              <a:srgbClr val="ACFA7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45080" cy="357836"/>
            </a:xfrm>
            <a:prstGeom prst="rect">
              <a:avLst/>
            </a:prstGeom>
          </p:spPr>
          <p:txBody>
            <a:bodyPr anchor="ctr" rtlCol="false" tIns="43615" lIns="43615" bIns="43615" rIns="43615"/>
            <a:lstStyle/>
            <a:p>
              <a:pPr algn="ctr" marL="0" indent="0" lvl="0">
                <a:lnSpc>
                  <a:spcPts val="216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8708109" y="6092962"/>
            <a:ext cx="1764151" cy="1842558"/>
            <a:chOff x="0" y="0"/>
            <a:chExt cx="571500" cy="596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0" cy="596900"/>
            </a:xfrm>
            <a:custGeom>
              <a:avLst/>
              <a:gdLst/>
              <a:ahLst/>
              <a:cxnLst/>
              <a:rect r="r" b="b" t="t" l="l"/>
              <a:pathLst>
                <a:path h="596900" w="571500">
                  <a:moveTo>
                    <a:pt x="571500" y="596900"/>
                  </a:moveTo>
                  <a:lnTo>
                    <a:pt x="0" y="596900"/>
                  </a:lnTo>
                  <a:lnTo>
                    <a:pt x="0" y="0"/>
                  </a:lnTo>
                  <a:lnTo>
                    <a:pt x="571500" y="596900"/>
                  </a:lnTo>
                  <a:close/>
                </a:path>
              </a:pathLst>
            </a:custGeom>
            <a:solidFill>
              <a:srgbClr val="ACFA7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79400"/>
              <a:ext cx="285750" cy="317500"/>
            </a:xfrm>
            <a:prstGeom prst="rect">
              <a:avLst/>
            </a:prstGeom>
          </p:spPr>
          <p:txBody>
            <a:bodyPr anchor="ctr" rtlCol="false" tIns="43615" lIns="43615" bIns="43615" rIns="43615"/>
            <a:lstStyle/>
            <a:p>
              <a:pPr algn="ctr" marL="0" indent="0" lvl="0">
                <a:lnSpc>
                  <a:spcPts val="216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32393" y="2476500"/>
            <a:ext cx="5454107" cy="5447290"/>
          </a:xfrm>
          <a:custGeom>
            <a:avLst/>
            <a:gdLst/>
            <a:ahLst/>
            <a:cxnLst/>
            <a:rect r="r" b="b" t="t" l="l"/>
            <a:pathLst>
              <a:path h="5447290" w="5454107">
                <a:moveTo>
                  <a:pt x="0" y="0"/>
                </a:moveTo>
                <a:lnTo>
                  <a:pt x="5454107" y="0"/>
                </a:lnTo>
                <a:lnTo>
                  <a:pt x="5454107" y="5447290"/>
                </a:lnTo>
                <a:lnTo>
                  <a:pt x="0" y="5447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32393" y="3052712"/>
            <a:ext cx="4563933" cy="456393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3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2C2FC8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Relaciones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697568" y="3710489"/>
            <a:ext cx="5374871" cy="354598"/>
          </a:xfrm>
          <a:custGeom>
            <a:avLst/>
            <a:gdLst/>
            <a:ahLst/>
            <a:cxnLst/>
            <a:rect r="r" b="b" t="t" l="l"/>
            <a:pathLst>
              <a:path h="354598" w="5374871">
                <a:moveTo>
                  <a:pt x="0" y="0"/>
                </a:moveTo>
                <a:lnTo>
                  <a:pt x="5374871" y="0"/>
                </a:lnTo>
                <a:lnTo>
                  <a:pt x="5374871" y="354598"/>
                </a:lnTo>
                <a:lnTo>
                  <a:pt x="0" y="3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-73623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934323" y="6137466"/>
            <a:ext cx="5374871" cy="354598"/>
          </a:xfrm>
          <a:custGeom>
            <a:avLst/>
            <a:gdLst/>
            <a:ahLst/>
            <a:cxnLst/>
            <a:rect r="r" b="b" t="t" l="l"/>
            <a:pathLst>
              <a:path h="354598" w="5374871">
                <a:moveTo>
                  <a:pt x="0" y="0"/>
                </a:moveTo>
                <a:lnTo>
                  <a:pt x="5374871" y="0"/>
                </a:lnTo>
                <a:lnTo>
                  <a:pt x="5374871" y="354598"/>
                </a:lnTo>
                <a:lnTo>
                  <a:pt x="0" y="3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-73623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616344" y="1978959"/>
            <a:ext cx="5374871" cy="1811527"/>
            <a:chOff x="0" y="0"/>
            <a:chExt cx="1415604" cy="4771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5604" cy="477110"/>
            </a:xfrm>
            <a:custGeom>
              <a:avLst/>
              <a:gdLst/>
              <a:ahLst/>
              <a:cxnLst/>
              <a:rect r="r" b="b" t="t" l="l"/>
              <a:pathLst>
                <a:path h="477110" w="1415604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54053" y="2622432"/>
            <a:ext cx="524581" cy="52458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F5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01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616344" y="8566494"/>
            <a:ext cx="5374871" cy="354598"/>
          </a:xfrm>
          <a:custGeom>
            <a:avLst/>
            <a:gdLst/>
            <a:ahLst/>
            <a:cxnLst/>
            <a:rect r="r" b="b" t="t" l="l"/>
            <a:pathLst>
              <a:path h="354598" w="5374871">
                <a:moveTo>
                  <a:pt x="0" y="0"/>
                </a:moveTo>
                <a:lnTo>
                  <a:pt x="5374870" y="0"/>
                </a:lnTo>
                <a:lnTo>
                  <a:pt x="5374870" y="354598"/>
                </a:lnTo>
                <a:lnTo>
                  <a:pt x="0" y="3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l="0" t="-73623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616344" y="6838640"/>
            <a:ext cx="5374871" cy="1811527"/>
            <a:chOff x="0" y="0"/>
            <a:chExt cx="1415604" cy="4771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15604" cy="477110"/>
            </a:xfrm>
            <a:custGeom>
              <a:avLst/>
              <a:gdLst/>
              <a:ahLst/>
              <a:cxnLst/>
              <a:rect r="r" b="b" t="t" l="l"/>
              <a:pathLst>
                <a:path h="477110" w="1415604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54053" y="7482113"/>
            <a:ext cx="524581" cy="524581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FA7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34323" y="4407987"/>
            <a:ext cx="5374871" cy="1811527"/>
            <a:chOff x="0" y="0"/>
            <a:chExt cx="1415604" cy="4771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15604" cy="477110"/>
            </a:xfrm>
            <a:custGeom>
              <a:avLst/>
              <a:gdLst/>
              <a:ahLst/>
              <a:cxnLst/>
              <a:rect r="r" b="b" t="t" l="l"/>
              <a:pathLst>
                <a:path h="477110" w="1415604">
                  <a:moveTo>
                    <a:pt x="14404" y="0"/>
                  </a:moveTo>
                  <a:lnTo>
                    <a:pt x="1401200" y="0"/>
                  </a:lnTo>
                  <a:cubicBezTo>
                    <a:pt x="1405020" y="0"/>
                    <a:pt x="1408684" y="1518"/>
                    <a:pt x="1411385" y="4219"/>
                  </a:cubicBezTo>
                  <a:cubicBezTo>
                    <a:pt x="1414086" y="6920"/>
                    <a:pt x="1415604" y="10584"/>
                    <a:pt x="1415604" y="14404"/>
                  </a:cubicBezTo>
                  <a:lnTo>
                    <a:pt x="1415604" y="462706"/>
                  </a:lnTo>
                  <a:cubicBezTo>
                    <a:pt x="1415604" y="466526"/>
                    <a:pt x="1414086" y="470190"/>
                    <a:pt x="1411385" y="472891"/>
                  </a:cubicBezTo>
                  <a:cubicBezTo>
                    <a:pt x="1408684" y="475593"/>
                    <a:pt x="1405020" y="477110"/>
                    <a:pt x="1401200" y="477110"/>
                  </a:cubicBezTo>
                  <a:lnTo>
                    <a:pt x="14404" y="477110"/>
                  </a:lnTo>
                  <a:cubicBezTo>
                    <a:pt x="6449" y="477110"/>
                    <a:pt x="0" y="470661"/>
                    <a:pt x="0" y="462706"/>
                  </a:cubicBezTo>
                  <a:lnTo>
                    <a:pt x="0" y="14404"/>
                  </a:lnTo>
                  <a:cubicBezTo>
                    <a:pt x="0" y="6449"/>
                    <a:pt x="6449" y="0"/>
                    <a:pt x="144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415604" cy="5247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672033" y="5051461"/>
            <a:ext cx="524581" cy="524581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89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170839" y="3307569"/>
            <a:ext cx="323763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Design</a:t>
            </a:r>
            <a:r>
              <a:rPr lang="en-US" b="true" sz="2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 Thinking 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+ 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Scrum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586200" y="6171890"/>
            <a:ext cx="2627861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Design Thinking </a:t>
            </a:r>
          </a:p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+ 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MoSCoW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89656" y="5105908"/>
            <a:ext cx="236015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Scrum +</a:t>
            </a:r>
            <a:r>
              <a:rPr lang="en-US" b="true" sz="21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 MoSCoW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335394" y="2324018"/>
            <a:ext cx="3936770" cy="136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Pr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epara el terreno explorando el problema/solución antes o durante la </a:t>
            </a:r>
            <a:r>
              <a:rPr lang="en-US" b="true" sz="1599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fase de refinamiento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del Product Backlog, asegurando que Scrum construya algo valioso.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35394" y="7321811"/>
            <a:ext cx="393677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Ayuda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a filtrar la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uvi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 ideas del DT, categorizando las necesidades humanas descubiertas en prioridades ejecutable.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53373" y="4753046"/>
            <a:ext cx="3936770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MoSC</a:t>
            </a:r>
            <a:r>
              <a:rPr lang="en-US" sz="15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oW 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es la técnica de priorización p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ra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cidir qué el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em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entos de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Product Backlog entran en el </a:t>
            </a:r>
            <a:r>
              <a:rPr lang="en-US" b="true" sz="1599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Sprint Planning</a:t>
            </a:r>
            <a:r>
              <a:rPr lang="en-US" sz="1599" strike="noStrike" u="none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, garantizando el enfoque en lo imprescindible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8363929" y="3513309"/>
            <a:ext cx="649778" cy="666750"/>
          </a:xfrm>
          <a:custGeom>
            <a:avLst/>
            <a:gdLst/>
            <a:ahLst/>
            <a:cxnLst/>
            <a:rect r="r" b="b" t="t" l="l"/>
            <a:pathLst>
              <a:path h="666750" w="649778">
                <a:moveTo>
                  <a:pt x="0" y="0"/>
                </a:moveTo>
                <a:lnTo>
                  <a:pt x="649778" y="0"/>
                </a:lnTo>
                <a:lnTo>
                  <a:pt x="649778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9590184" y="4979225"/>
            <a:ext cx="685444" cy="666750"/>
          </a:xfrm>
          <a:custGeom>
            <a:avLst/>
            <a:gdLst/>
            <a:ahLst/>
            <a:cxnLst/>
            <a:rect r="r" b="b" t="t" l="l"/>
            <a:pathLst>
              <a:path h="666750" w="685444">
                <a:moveTo>
                  <a:pt x="0" y="0"/>
                </a:moveTo>
                <a:lnTo>
                  <a:pt x="685444" y="0"/>
                </a:lnTo>
                <a:lnTo>
                  <a:pt x="685444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8403934" y="6448860"/>
            <a:ext cx="569768" cy="666750"/>
          </a:xfrm>
          <a:custGeom>
            <a:avLst/>
            <a:gdLst/>
            <a:ahLst/>
            <a:cxnLst/>
            <a:rect r="r" b="b" t="t" l="l"/>
            <a:pathLst>
              <a:path h="666750" w="569768">
                <a:moveTo>
                  <a:pt x="0" y="0"/>
                </a:moveTo>
                <a:lnTo>
                  <a:pt x="569768" y="0"/>
                </a:lnTo>
                <a:lnTo>
                  <a:pt x="569768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DAHBBAj0uC4</dc:identifier>
  <dcterms:modified xsi:type="dcterms:W3CDTF">2011-08-01T06:04:30Z</dcterms:modified>
  <cp:revision>1</cp:revision>
  <dc:title>Scrum </dc:title>
</cp:coreProperties>
</file>